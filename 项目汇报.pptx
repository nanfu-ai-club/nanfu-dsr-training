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822960" y="475742"/>
            <a:ext cx="1005840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48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让一线业务员</a:t>
            </a:r>
            <a:endParaRPr sz="4800" b="1">
              <a:solidFill>
                <a:srgbClr val="1D1D1F"/>
              </a:solidFill>
              <a:latin typeface="微软雅黑"/>
              <a:ea typeface="微软雅黑"/>
              <a:cs typeface="微软雅黑"/>
            </a:endParaRPr>
          </a:p>
          <a:p>
            <a:pPr>
              <a:lnSpc>
                <a:spcPct val="114000"/>
              </a:lnSpc>
            </a:pPr>
            <a:r>
              <a:rPr sz="4800" b="1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随时可问、随时可练</a:t>
            </a:r>
            <a:endParaRPr sz="4800" b="1">
              <a:solidFill>
                <a:srgbClr val="0066C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2267458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销售培训长期依赖线下集中与老带新，覆盖面窄、成本高、效果难衡量。
总部规划「终端跑店宝典」，把销售赋能搬上线。</a:t>
            </a:r>
            <a:endParaRPr sz="15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5" name="Connector 4"/>
          <p:cNvCxnSpPr/>
          <p:nvPr/>
        </p:nvCxnSpPr>
        <p:spPr>
          <a:xfrm>
            <a:off x="822960" y="3145536"/>
            <a:ext cx="10545775" cy="0"/>
          </a:xfrm>
          <a:prstGeom prst="line">
            <a:avLst/>
          </a:prstGeom>
          <a:ln w="12700">
            <a:solidFill>
              <a:srgbClr val="DD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3401568"/>
            <a:ext cx="184580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平台总进度</a:t>
            </a:r>
            <a:r>
              <a:rPr sz="1000" b="0">
                <a:solidFill>
                  <a:srgbClr val="B0B0B5"/>
                </a:solidFill>
                <a:latin typeface="微软雅黑"/>
                <a:ea typeface="微软雅黑"/>
                <a:cs typeface="微软雅黑"/>
              </a:rPr>
              <a:t>  覆盖人数</a:t>
            </a:r>
            <a:endParaRPr sz="1000" b="0">
              <a:solidFill>
                <a:srgbClr val="B0B0B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845807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5,536</a:t>
            </a:r>
            <a:r>
              <a:rPr sz="15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 人</a:t>
            </a:r>
            <a:endParaRPr sz="15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4352544"/>
            <a:ext cx="1845807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近 30 天活跃 3,338 人</a:t>
            </a:r>
            <a:endParaRPr sz="15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997951" y="3401568"/>
            <a:ext cx="184580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跑店问问</a:t>
            </a:r>
            <a:r>
              <a:rPr sz="1000" b="0">
                <a:solidFill>
                  <a:srgbClr val="B0B0B5"/>
                </a:solidFill>
                <a:latin typeface="微软雅黑"/>
                <a:ea typeface="微软雅黑"/>
                <a:cs typeface="微软雅黑"/>
              </a:rPr>
              <a:t>  AI 智能问答</a:t>
            </a:r>
            <a:endParaRPr sz="1000" b="0">
              <a:solidFill>
                <a:srgbClr val="B0B0B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97951" y="3749039"/>
            <a:ext cx="1845807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33,998</a:t>
            </a:r>
            <a:r>
              <a:rPr sz="15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 次</a:t>
            </a:r>
            <a:endParaRPr sz="15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97951" y="4352544"/>
            <a:ext cx="1845807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1,984 人使用 · 好评率 99.8%</a:t>
            </a:r>
            <a:endParaRPr sz="15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172943" y="3401568"/>
            <a:ext cx="184580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FU利陪陪</a:t>
            </a:r>
            <a:r>
              <a:rPr sz="1000" b="0">
                <a:solidFill>
                  <a:srgbClr val="B0B0B5"/>
                </a:solidFill>
                <a:latin typeface="微软雅黑"/>
                <a:ea typeface="微软雅黑"/>
                <a:cs typeface="微软雅黑"/>
              </a:rPr>
              <a:t>  AI 实战陪练</a:t>
            </a:r>
            <a:endParaRPr sz="1000" b="0">
              <a:solidFill>
                <a:srgbClr val="B0B0B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72943" y="3749039"/>
            <a:ext cx="1845807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9,451</a:t>
            </a:r>
            <a:r>
              <a:rPr sz="15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 场</a:t>
            </a:r>
            <a:endParaRPr sz="15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172943" y="4352544"/>
            <a:ext cx="1845807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1,019 人参与 · 优良率 68.3%</a:t>
            </a:r>
            <a:endParaRPr sz="15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47935" y="3401568"/>
            <a:ext cx="184580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课程学习</a:t>
            </a:r>
            <a:r>
              <a:rPr sz="1000" b="0">
                <a:solidFill>
                  <a:srgbClr val="B0B0B5"/>
                </a:solidFill>
                <a:latin typeface="微软雅黑"/>
                <a:ea typeface="微软雅黑"/>
                <a:cs typeface="微软雅黑"/>
              </a:rPr>
              <a:t>  在线课程</a:t>
            </a:r>
            <a:endParaRPr sz="1000" b="0">
              <a:solidFill>
                <a:srgbClr val="B0B0B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47935" y="3749039"/>
            <a:ext cx="1845807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1,433</a:t>
            </a:r>
            <a:r>
              <a:rPr sz="15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 人</a:t>
            </a:r>
            <a:endParaRPr sz="15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47935" y="4352544"/>
            <a:ext cx="1845807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23 门课程 · 完成率 98.4%</a:t>
            </a:r>
            <a:endParaRPr sz="15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22927" y="3401568"/>
            <a:ext cx="1845807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分享圈</a:t>
            </a:r>
            <a:r>
              <a:rPr sz="1000" b="0">
                <a:solidFill>
                  <a:srgbClr val="B0B0B5"/>
                </a:solidFill>
                <a:latin typeface="微软雅黑"/>
                <a:ea typeface="微软雅黑"/>
                <a:cs typeface="微软雅黑"/>
              </a:rPr>
              <a:t>  业务经验共享</a:t>
            </a:r>
            <a:endParaRPr sz="1000" b="0">
              <a:solidFill>
                <a:srgbClr val="B0B0B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522927" y="3749039"/>
            <a:ext cx="1845807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9,710</a:t>
            </a:r>
            <a:r>
              <a:rPr sz="15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 条</a:t>
            </a:r>
            <a:endParaRPr sz="15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522927" y="4352544"/>
            <a:ext cx="1845807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>
                <a:solidFill>
                  <a:srgbClr val="6E6E73"/>
                </a:solidFill>
                <a:latin typeface="微软雅黑"/>
                <a:ea typeface="微软雅黑"/>
                <a:cs typeface="微软雅黑"/>
              </a:rPr>
              <a:t>819 人发布 · 互动 771 次</a:t>
            </a:r>
            <a:endParaRPr sz="1500" b="0">
              <a:solidFill>
                <a:srgbClr val="6E6E73"/>
              </a:solidFill>
              <a:latin typeface="微软雅黑"/>
              <a:ea typeface="微软雅黑"/>
              <a:cs typeface="微软雅黑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822960" y="5212080"/>
            <a:ext cx="10545775" cy="0"/>
          </a:xfrm>
          <a:prstGeom prst="line">
            <a:avLst/>
          </a:prstGeom>
          <a:ln w="12700">
            <a:solidFill>
              <a:srgbClr val="DD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2960" y="5468112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66CC"/>
                </a:solidFill>
                <a:latin typeface="微软雅黑"/>
                <a:ea typeface="微软雅黑"/>
                <a:cs typeface="微软雅黑"/>
              </a:rPr>
              <a:t>下阶段</a:t>
            </a:r>
            <a:endParaRPr sz="1000" b="1">
              <a:solidFill>
                <a:srgbClr val="0066C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011680" y="5467985"/>
            <a:ext cx="2753360" cy="6457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B0B0B5"/>
                </a:solidFill>
                <a:latin typeface="微软雅黑"/>
                <a:ea typeface="微软雅黑"/>
                <a:cs typeface="微软雅黑"/>
              </a:rPr>
              <a:t>01   </a:t>
            </a:r>
            <a:r>
              <a:rPr sz="1500" b="0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激活未登录人员，提升使用频次</a:t>
            </a:r>
            <a:endParaRPr sz="1500" b="0">
              <a:solidFill>
                <a:srgbClr val="1D1D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130698" y="5468112"/>
            <a:ext cx="275325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B0B0B5"/>
                </a:solidFill>
                <a:latin typeface="微软雅黑"/>
                <a:ea typeface="微软雅黑"/>
                <a:cs typeface="微软雅黑"/>
              </a:rPr>
              <a:t>02   </a:t>
            </a:r>
            <a:r>
              <a:rPr sz="1500" b="0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AI 功能全员覆盖，复制标杆区域经验</a:t>
            </a:r>
            <a:endParaRPr sz="1500" b="0">
              <a:solidFill>
                <a:srgbClr val="1D1D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49716" y="5468112"/>
            <a:ext cx="2753258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B0B0B5"/>
                </a:solidFill>
                <a:latin typeface="微软雅黑"/>
                <a:ea typeface="微软雅黑"/>
                <a:cs typeface="微软雅黑"/>
              </a:rPr>
              <a:t>03   </a:t>
            </a:r>
            <a:r>
              <a:rPr sz="1500" b="0">
                <a:solidFill>
                  <a:srgbClr val="1D1D1F"/>
                </a:solidFill>
                <a:latin typeface="微软雅黑"/>
                <a:ea typeface="微软雅黑"/>
                <a:cs typeface="微软雅黑"/>
              </a:rPr>
              <a:t>推动训练成果向一线业绩转化</a:t>
            </a:r>
            <a:endParaRPr sz="1500" b="0">
              <a:solidFill>
                <a:srgbClr val="1D1D1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6437376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B0B0B5"/>
                </a:solidFill>
                <a:latin typeface="微软雅黑"/>
                <a:ea typeface="微软雅黑"/>
                <a:cs typeface="微软雅黑"/>
              </a:rPr>
              <a:t>数据截止 2026-10-08 · 统计周期 07-27 ~ 10-08</a:t>
            </a:r>
            <a:endParaRPr sz="1000" b="0">
              <a:solidFill>
                <a:srgbClr val="B0B0B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11135" y="6437376"/>
            <a:ext cx="36576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0B0B5"/>
                </a:solidFill>
                <a:latin typeface="微软雅黑"/>
                <a:ea typeface="微软雅黑"/>
                <a:cs typeface="微软雅黑"/>
              </a:rPr>
              <a:t>数据来源：平台生产数据</a:t>
            </a:r>
            <a:endParaRPr sz="1000" b="0">
              <a:solidFill>
                <a:srgbClr val="B0B0B5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</Words>
  <Application>WPS 文字</Application>
  <PresentationFormat>On-screen Show (4:3)</PresentationFormat>
  <Paragraphs>47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Arial</vt:lpstr>
      <vt:lpstr>微软雅黑</vt:lpstr>
      <vt:lpstr>方正雅意黑 GB18030L2</vt:lpstr>
      <vt:lpstr>微软雅黑</vt:lpstr>
      <vt:lpstr>宋体</vt:lpstr>
      <vt:lpstr>Arial Unicode MS</vt:lpstr>
      <vt:lpstr>Calibri</vt:lpstr>
      <vt:lpstr>Helvetica Neue</vt:lpstr>
      <vt:lpstr>汉仪书宋二KW</vt:lpstr>
      <vt:lpstr>微软雅黑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那年那月</cp:lastModifiedBy>
  <cp:revision>2</cp:revision>
  <dcterms:created xsi:type="dcterms:W3CDTF">2026-10-08T05:46:22Z</dcterms:created>
  <dcterms:modified xsi:type="dcterms:W3CDTF">2026-10-08T05:46:22Z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A9BF49BCBCE8B0EE2E2EC76ACAB3CA80_42</vt:lpwstr>
  </property>
  <property fmtid="{D5CDD505-2E9C-101B-9397-08002B2CF9AE}" pid="3" name="KSOProductBuildVer">
    <vt:lpwstr>2052-12.1.26055.26055</vt:lpwstr>
  </property>
</Properties>
</file>