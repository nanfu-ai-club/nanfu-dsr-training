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7" userDrawn="1">
          <p15:clr>
            <a:srgbClr val="A4A3A4"/>
          </p15:clr>
        </p15:guide>
        <p15:guide id="2" pos="28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27"/>
        <p:guide pos="285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621665" y="274320"/>
            <a:ext cx="9924415" cy="12731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zh-CN" sz="3600" b="1">
                <a:solidFill>
                  <a:srgbClr val="1D1D1F"/>
                </a:solidFill>
                <a:latin typeface="微软雅黑"/>
                <a:ea typeface="微软雅黑"/>
                <a:cs typeface="微软雅黑"/>
              </a:rPr>
              <a:t>终端跑店宝典</a:t>
            </a:r>
            <a:endParaRPr lang="zh-CN" sz="3600" b="1">
              <a:solidFill>
                <a:srgbClr val="1D1D1F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</a:pPr>
            <a:r>
              <a:rPr sz="3600" b="1">
                <a:solidFill>
                  <a:srgbClr val="0066CC"/>
                </a:solidFill>
                <a:latin typeface="微软雅黑"/>
                <a:ea typeface="微软雅黑"/>
                <a:cs typeface="微软雅黑"/>
              </a:rPr>
              <a:t>AI 赋能与经验共享，均已形成规模</a:t>
            </a:r>
            <a:endParaRPr sz="3600" b="1">
              <a:solidFill>
                <a:srgbClr val="0066C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665" y="1704975"/>
            <a:ext cx="9008745" cy="355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6E6E73"/>
                </a:solidFill>
                <a:latin typeface="微软雅黑"/>
                <a:ea typeface="微软雅黑"/>
                <a:cs typeface="微软雅黑"/>
              </a:rPr>
              <a:t>5,536 </a:t>
            </a:r>
            <a:r>
              <a:rPr sz="1400" b="0">
                <a:solidFill>
                  <a:srgbClr val="6E6E73"/>
                </a:solidFill>
                <a:latin typeface="微软雅黑"/>
                <a:ea typeface="微软雅黑"/>
                <a:cs typeface="微软雅黑"/>
              </a:rPr>
              <a:t>名业务员 · 6 个大区、47 个区域 · 活跃口径为近 30 天</a:t>
            </a:r>
            <a:r>
              <a:rPr sz="1400">
                <a:solidFill>
                  <a:srgbClr val="6E6E73"/>
                </a:solidFill>
                <a:latin typeface="微软雅黑"/>
                <a:ea typeface="微软雅黑"/>
                <a:cs typeface="微软雅黑"/>
                <a:sym typeface="+mn-ea"/>
              </a:rPr>
              <a:t> · 活跃 3,340 人</a:t>
            </a:r>
            <a:r>
              <a:rPr lang="zh-CN" sz="1400">
                <a:solidFill>
                  <a:srgbClr val="6E6E73"/>
                </a:solidFill>
                <a:latin typeface="微软雅黑"/>
                <a:ea typeface="微软雅黑"/>
                <a:cs typeface="微软雅黑"/>
                <a:sym typeface="+mn-ea"/>
              </a:rPr>
              <a:t>占比</a:t>
            </a:r>
            <a:r>
              <a:rPr lang="en-US" altLang="zh-CN" sz="1400">
                <a:solidFill>
                  <a:srgbClr val="6E6E73"/>
                </a:solidFill>
                <a:latin typeface="微软雅黑"/>
                <a:ea typeface="微软雅黑"/>
                <a:cs typeface="微软雅黑"/>
                <a:sym typeface="+mn-ea"/>
              </a:rPr>
              <a:t>61%</a:t>
            </a:r>
            <a:endParaRPr sz="1400" b="0">
              <a:solidFill>
                <a:srgbClr val="6E6E73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30000"/>
              </a:lnSpc>
            </a:pPr>
            <a:endParaRPr sz="1400" b="0">
              <a:solidFill>
                <a:srgbClr val="6E6E73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730885" y="4458081"/>
            <a:ext cx="3804285" cy="0"/>
          </a:xfrm>
          <a:prstGeom prst="line">
            <a:avLst/>
          </a:prstGeom>
          <a:ln w="12700">
            <a:solidFill>
              <a:srgbClr val="DC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5800" y="2406269"/>
            <a:ext cx="192627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微软雅黑"/>
                <a:ea typeface="微软雅黑"/>
                <a:cs typeface="微软雅黑"/>
              </a:rPr>
              <a:t>一线高频答疑</a:t>
            </a:r>
            <a:endParaRPr sz="1200" b="1">
              <a:solidFill>
                <a:srgbClr val="1D1D1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5800" y="2717165"/>
            <a:ext cx="1926275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D1D1F"/>
                </a:solidFill>
                <a:latin typeface="微软雅黑"/>
                <a:ea typeface="微软雅黑"/>
                <a:cs typeface="微软雅黑"/>
              </a:rPr>
              <a:t>33,998</a:t>
            </a:r>
            <a:r>
              <a:rPr sz="1200" b="0">
                <a:solidFill>
                  <a:srgbClr val="6E6E73"/>
                </a:solidFill>
                <a:latin typeface="微软雅黑"/>
                <a:ea typeface="微软雅黑"/>
                <a:cs typeface="微软雅黑"/>
              </a:rPr>
              <a:t> 次</a:t>
            </a:r>
            <a:endParaRPr sz="1200" b="0">
              <a:solidFill>
                <a:srgbClr val="6E6E7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5800" y="3320669"/>
            <a:ext cx="1926275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E6E73"/>
                </a:solidFill>
                <a:latin typeface="微软雅黑"/>
                <a:ea typeface="微软雅黑"/>
                <a:cs typeface="微软雅黑"/>
              </a:rPr>
              <a:t>1,984 人使用</a:t>
            </a:r>
            <a:endParaRPr sz="1200" b="0">
              <a:solidFill>
                <a:srgbClr val="6E6E73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</a:pPr>
            <a:r>
              <a:rPr sz="1200" b="0">
                <a:solidFill>
                  <a:srgbClr val="6E6E73"/>
                </a:solidFill>
                <a:latin typeface="微软雅黑"/>
                <a:ea typeface="微软雅黑"/>
                <a:cs typeface="微软雅黑"/>
              </a:rPr>
              <a:t>回答好评率 99.8%</a:t>
            </a:r>
            <a:endParaRPr sz="1200" b="0">
              <a:solidFill>
                <a:srgbClr val="6E6E73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</a:pPr>
            <a:r>
              <a:rPr sz="1200" b="0">
                <a:solidFill>
                  <a:srgbClr val="6E6E73"/>
                </a:solidFill>
                <a:latin typeface="微软雅黑"/>
                <a:ea typeface="微软雅黑"/>
                <a:cs typeface="微软雅黑"/>
              </a:rPr>
              <a:t>对话收藏 307 条</a:t>
            </a:r>
            <a:endParaRPr sz="1200" b="0">
              <a:solidFill>
                <a:srgbClr val="6E6E7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66395" y="2406269"/>
            <a:ext cx="192627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微软雅黑"/>
                <a:ea typeface="微软雅黑"/>
                <a:cs typeface="微软雅黑"/>
              </a:rPr>
              <a:t>实战练兵规模化</a:t>
            </a:r>
            <a:endParaRPr sz="1200" b="1">
              <a:solidFill>
                <a:srgbClr val="1D1D1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66395" y="2717165"/>
            <a:ext cx="1926275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D1D1F"/>
                </a:solidFill>
                <a:latin typeface="微软雅黑"/>
                <a:ea typeface="微软雅黑"/>
                <a:cs typeface="微软雅黑"/>
              </a:rPr>
              <a:t>9,455</a:t>
            </a:r>
            <a:r>
              <a:rPr sz="1200" b="0">
                <a:solidFill>
                  <a:srgbClr val="6E6E73"/>
                </a:solidFill>
                <a:latin typeface="微软雅黑"/>
                <a:ea typeface="微软雅黑"/>
                <a:cs typeface="微软雅黑"/>
              </a:rPr>
              <a:t> 场</a:t>
            </a:r>
            <a:endParaRPr sz="1200" b="0">
              <a:solidFill>
                <a:srgbClr val="6E6E7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66395" y="3320669"/>
            <a:ext cx="1926275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E6E73"/>
                </a:solidFill>
                <a:latin typeface="微软雅黑"/>
                <a:ea typeface="微软雅黑"/>
                <a:cs typeface="微软雅黑"/>
              </a:rPr>
              <a:t>1,019 人参与</a:t>
            </a:r>
            <a:endParaRPr sz="1200" b="0">
              <a:solidFill>
                <a:srgbClr val="6E6E73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</a:pPr>
            <a:r>
              <a:rPr sz="1200" b="0">
                <a:solidFill>
                  <a:srgbClr val="6E6E73"/>
                </a:solidFill>
                <a:latin typeface="微软雅黑"/>
                <a:ea typeface="微软雅黑"/>
                <a:cs typeface="微软雅黑"/>
              </a:rPr>
              <a:t>产出 6,059 份评估</a:t>
            </a:r>
            <a:endParaRPr sz="1200" b="0">
              <a:solidFill>
                <a:srgbClr val="6E6E73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</a:pPr>
            <a:r>
              <a:rPr sz="1200" b="0">
                <a:solidFill>
                  <a:srgbClr val="6E6E73"/>
                </a:solidFill>
                <a:latin typeface="微软雅黑"/>
                <a:ea typeface="微软雅黑"/>
                <a:cs typeface="微软雅黑"/>
              </a:rPr>
              <a:t>评估优良率 68.3%</a:t>
            </a:r>
            <a:endParaRPr sz="1200" b="0">
              <a:solidFill>
                <a:srgbClr val="6E6E7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29940" y="4730369"/>
            <a:ext cx="192627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微软雅黑"/>
                <a:ea typeface="微软雅黑"/>
                <a:cs typeface="微软雅黑"/>
              </a:rPr>
              <a:t>学考闭环已跑通</a:t>
            </a:r>
            <a:endParaRPr sz="1200" b="1">
              <a:solidFill>
                <a:srgbClr val="1D1D1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29940" y="5041265"/>
            <a:ext cx="1926275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D1D1F"/>
                </a:solidFill>
                <a:latin typeface="微软雅黑"/>
                <a:ea typeface="微软雅黑"/>
                <a:cs typeface="微软雅黑"/>
              </a:rPr>
              <a:t>85.7</a:t>
            </a:r>
            <a:r>
              <a:rPr sz="1200" b="0">
                <a:solidFill>
                  <a:srgbClr val="6E6E73"/>
                </a:solidFill>
                <a:latin typeface="微软雅黑"/>
                <a:ea typeface="微软雅黑"/>
                <a:cs typeface="微软雅黑"/>
              </a:rPr>
              <a:t> %</a:t>
            </a:r>
            <a:endParaRPr sz="1200" b="0">
              <a:solidFill>
                <a:srgbClr val="6E6E7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9940" y="5644769"/>
            <a:ext cx="1926275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E6E73"/>
                </a:solidFill>
                <a:latin typeface="微软雅黑"/>
                <a:ea typeface="微软雅黑"/>
                <a:cs typeface="微软雅黑"/>
              </a:rPr>
              <a:t>在线考试及格率</a:t>
            </a:r>
            <a:endParaRPr sz="1200" b="0">
              <a:solidFill>
                <a:srgbClr val="6E6E73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</a:pPr>
            <a:r>
              <a:rPr sz="1200" b="0">
                <a:solidFill>
                  <a:srgbClr val="6E6E73"/>
                </a:solidFill>
                <a:latin typeface="微软雅黑"/>
                <a:ea typeface="微软雅黑"/>
                <a:cs typeface="微软雅黑"/>
              </a:rPr>
              <a:t>学习完成率 98.4%</a:t>
            </a:r>
            <a:endParaRPr sz="1200" b="0">
              <a:solidFill>
                <a:srgbClr val="6E6E73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</a:pPr>
            <a:r>
              <a:rPr sz="1200" b="0">
                <a:solidFill>
                  <a:srgbClr val="6E6E73"/>
                </a:solidFill>
                <a:latin typeface="微软雅黑"/>
                <a:ea typeface="微软雅黑"/>
                <a:cs typeface="微软雅黑"/>
              </a:rPr>
              <a:t>23 门课程 · 1,433 人</a:t>
            </a:r>
            <a:endParaRPr sz="1200" b="0">
              <a:solidFill>
                <a:srgbClr val="6E6E7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30535" y="4730369"/>
            <a:ext cx="192627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微软雅黑"/>
                <a:ea typeface="微软雅黑"/>
                <a:cs typeface="微软雅黑"/>
              </a:rPr>
              <a:t>经验共享成规模</a:t>
            </a:r>
            <a:endParaRPr sz="1200" b="1">
              <a:solidFill>
                <a:srgbClr val="1D1D1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30535" y="5041265"/>
            <a:ext cx="1926275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D1D1F"/>
                </a:solidFill>
                <a:latin typeface="微软雅黑"/>
                <a:ea typeface="微软雅黑"/>
                <a:cs typeface="微软雅黑"/>
              </a:rPr>
              <a:t>9,713</a:t>
            </a:r>
            <a:r>
              <a:rPr sz="1200" b="0">
                <a:solidFill>
                  <a:srgbClr val="6E6E73"/>
                </a:solidFill>
                <a:latin typeface="微软雅黑"/>
                <a:ea typeface="微软雅黑"/>
                <a:cs typeface="微软雅黑"/>
              </a:rPr>
              <a:t> 条</a:t>
            </a:r>
            <a:endParaRPr sz="1200" b="0">
              <a:solidFill>
                <a:srgbClr val="6E6E7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930535" y="5644769"/>
            <a:ext cx="1926275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E6E73"/>
                </a:solidFill>
                <a:latin typeface="微软雅黑"/>
                <a:ea typeface="微软雅黑"/>
                <a:cs typeface="微软雅黑"/>
              </a:rPr>
              <a:t>819 人发布动态</a:t>
            </a:r>
            <a:endParaRPr sz="1200" b="0">
              <a:solidFill>
                <a:srgbClr val="6E6E73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</a:pPr>
            <a:r>
              <a:rPr sz="1200" b="0">
                <a:solidFill>
                  <a:srgbClr val="6E6E73"/>
                </a:solidFill>
                <a:latin typeface="微软雅黑"/>
                <a:ea typeface="微软雅黑"/>
                <a:cs typeface="微软雅黑"/>
              </a:rPr>
              <a:t>累计点赞 719 次</a:t>
            </a:r>
            <a:endParaRPr sz="1200" b="0">
              <a:solidFill>
                <a:srgbClr val="6E6E73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</a:pPr>
            <a:r>
              <a:rPr sz="1200" b="0">
                <a:solidFill>
                  <a:srgbClr val="6E6E73"/>
                </a:solidFill>
                <a:latin typeface="微软雅黑"/>
                <a:ea typeface="微软雅黑"/>
                <a:cs typeface="微软雅黑"/>
              </a:rPr>
              <a:t>沉淀一线可复用经验</a:t>
            </a:r>
            <a:endParaRPr sz="1200" b="0">
              <a:solidFill>
                <a:srgbClr val="6E6E73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666115" y="2194179"/>
            <a:ext cx="3804285" cy="0"/>
          </a:xfrm>
          <a:prstGeom prst="line">
            <a:avLst/>
          </a:prstGeom>
          <a:ln w="12700">
            <a:solidFill>
              <a:srgbClr val="DC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1" name="图片 70"/>
          <p:cNvPicPr>
            <a:picLocks noChangeAspect="1"/>
          </p:cNvPicPr>
          <p:nvPr/>
        </p:nvPicPr>
        <p:blipFill>
          <a:blip r:embed="rId1"/>
          <a:srcRect l="16794"/>
          <a:stretch>
            <a:fillRect/>
          </a:stretch>
        </p:blipFill>
        <p:spPr>
          <a:xfrm>
            <a:off x="5067300" y="2193925"/>
            <a:ext cx="4197985" cy="2263775"/>
          </a:xfrm>
          <a:prstGeom prst="rect">
            <a:avLst/>
          </a:prstGeom>
        </p:spPr>
      </p:pic>
      <p:pic>
        <p:nvPicPr>
          <p:cNvPr id="72" name="图片 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7545" y="2086610"/>
            <a:ext cx="2403475" cy="4687570"/>
          </a:xfrm>
          <a:prstGeom prst="rect">
            <a:avLst/>
          </a:prstGeom>
        </p:spPr>
      </p:pic>
      <p:pic>
        <p:nvPicPr>
          <p:cNvPr id="73" name="图片 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680" y="4538980"/>
            <a:ext cx="4505960" cy="22244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"/>
            <a:ext cx="12294235" cy="68573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4802" y="194468"/>
            <a:ext cx="11684661" cy="1513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515" b="1" spc="0">
                <a:solidFill>
                  <a:srgbClr val="1D1D1F"/>
                </a:solidFill>
                <a:latin typeface="Arial" panose="020B0604020202090204"/>
                <a:ea typeface="微软雅黑"/>
              </a:rPr>
              <a:t>自建大战系统已跑通</a:t>
            </a:r>
            <a:endParaRPr sz="3515" b="1" spc="0">
              <a:solidFill>
                <a:srgbClr val="1D1D1F"/>
              </a:solidFill>
              <a:latin typeface="Arial" panose="020B0604020202090204"/>
              <a:ea typeface="微软雅黑"/>
            </a:endParaRPr>
          </a:p>
          <a:p>
            <a:pPr algn="l">
              <a:lnSpc>
                <a:spcPct val="116000"/>
              </a:lnSpc>
            </a:pPr>
            <a:r>
              <a:rPr sz="3515" b="1" spc="0">
                <a:solidFill>
                  <a:srgbClr val="0066CC"/>
                </a:solidFill>
                <a:latin typeface="Arial" panose="020B0604020202090204"/>
                <a:ea typeface="微软雅黑"/>
              </a:rPr>
              <a:t>内容评估落地 6 大战区，验证成立</a:t>
            </a:r>
            <a:r>
              <a:rPr lang="en-US" sz="3515" b="1" spc="0">
                <a:solidFill>
                  <a:srgbClr val="0066CC"/>
                </a:solidFill>
                <a:latin typeface="Arial" panose="020B0604020202090204"/>
                <a:ea typeface="微软雅黑"/>
              </a:rPr>
              <a:t>、</a:t>
            </a:r>
            <a:r>
              <a:rPr lang="zh-CN" altLang="en-US" sz="3515" b="1" spc="0">
                <a:solidFill>
                  <a:srgbClr val="0066CC"/>
                </a:solidFill>
                <a:latin typeface="Arial" panose="020B0604020202090204"/>
                <a:ea typeface="微软雅黑"/>
              </a:rPr>
              <a:t>投入实战</a:t>
            </a:r>
            <a:endParaRPr sz="3515" b="1" spc="0">
              <a:solidFill>
                <a:srgbClr val="0066CC"/>
              </a:solidFill>
              <a:latin typeface="Arial" panose="020B0604020202090204"/>
              <a:ea typeface="微软雅黑"/>
            </a:endParaRPr>
          </a:p>
          <a:p>
            <a:pPr algn="l">
              <a:spcBef>
                <a:spcPts val="575"/>
              </a:spcBef>
            </a:pPr>
            <a:endParaRPr sz="1195" b="1" spc="1">
              <a:solidFill>
                <a:srgbClr val="6E6E73"/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12867" y="2232044"/>
            <a:ext cx="40003" cy="113342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微软雅黑" charset="0"/>
              <a:ea typeface="微软雅黑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9541" y="2174897"/>
            <a:ext cx="2070246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微软雅黑" charset="0"/>
                <a:ea typeface="微软雅黑" charset="0"/>
              </a:rPr>
              <a:t>内容评估全自动</a:t>
            </a:r>
            <a:endParaRPr sz="1200" b="1">
              <a:solidFill>
                <a:srgbClr val="1D1D1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12867" y="2451108"/>
            <a:ext cx="2176921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spc="0">
                <a:solidFill>
                  <a:srgbClr val="1D1D1F"/>
                </a:solidFill>
                <a:latin typeface="微软雅黑" charset="0"/>
                <a:ea typeface="微软雅黑" charset="0"/>
                <a:cs typeface="微软雅黑" charset="0"/>
              </a:rPr>
              <a:t>617</a:t>
            </a:r>
            <a:r>
              <a:rPr sz="2800" b="0" spc="0">
                <a:solidFill>
                  <a:srgbClr val="6E6E73"/>
                </a:solidFill>
                <a:latin typeface="微软雅黑" charset="0"/>
                <a:ea typeface="微软雅黑" charset="0"/>
                <a:cs typeface="微软雅黑" charset="0"/>
              </a:rPr>
              <a:t>条</a:t>
            </a:r>
            <a:endParaRPr sz="2800" b="0" spc="0">
              <a:solidFill>
                <a:srgbClr val="6E6E73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2867" y="2950190"/>
            <a:ext cx="2176921" cy="8959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200" b="0">
                <a:solidFill>
                  <a:srgbClr val="6E6E73"/>
                </a:solidFill>
                <a:latin typeface="微软雅黑" charset="0"/>
                <a:ea typeface="微软雅黑" charset="0"/>
                <a:cs typeface="微软雅黑" charset="0"/>
              </a:rPr>
              <a:t>上传即出「情理色诚」内容分</a:t>
            </a:r>
            <a:endParaRPr sz="1200" b="0">
              <a:solidFill>
                <a:srgbClr val="6E6E73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62000"/>
              </a:lnSpc>
            </a:pPr>
            <a:r>
              <a:rPr sz="1200" b="0">
                <a:solidFill>
                  <a:srgbClr val="6E6E73"/>
                </a:solidFill>
                <a:latin typeface="微软雅黑" charset="0"/>
                <a:ea typeface="微软雅黑" charset="0"/>
                <a:cs typeface="微软雅黑" charset="0"/>
              </a:rPr>
              <a:t>T+7 回传即算分定级</a:t>
            </a:r>
            <a:endParaRPr sz="1200" b="0">
              <a:solidFill>
                <a:srgbClr val="6E6E73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62000"/>
              </a:lnSpc>
            </a:pPr>
            <a:r>
              <a:rPr sz="1200" b="0">
                <a:solidFill>
                  <a:srgbClr val="6E6E73"/>
                </a:solidFill>
                <a:latin typeface="微软雅黑" charset="0"/>
                <a:ea typeface="微软雅黑" charset="0"/>
                <a:cs typeface="微软雅黑" charset="0"/>
              </a:rPr>
              <a:t>已有 </a:t>
            </a:r>
            <a:r>
              <a:rPr sz="1200" b="1">
                <a:solidFill>
                  <a:srgbClr val="1D1D1F"/>
                </a:solidFill>
                <a:latin typeface="微软雅黑" charset="0"/>
                <a:ea typeface="微软雅黑" charset="0"/>
                <a:cs typeface="微软雅黑" charset="0"/>
              </a:rPr>
              <a:t>91 条</a:t>
            </a:r>
            <a:r>
              <a:rPr sz="1200" b="0">
                <a:solidFill>
                  <a:srgbClr val="6E6E73"/>
                </a:solidFill>
                <a:latin typeface="微软雅黑" charset="0"/>
                <a:ea typeface="微软雅黑" charset="0"/>
                <a:cs typeface="微软雅黑" charset="0"/>
              </a:rPr>
              <a:t>完成计分</a:t>
            </a:r>
            <a:endParaRPr sz="1200" b="0">
              <a:solidFill>
                <a:srgbClr val="6E6E73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789802" y="2232044"/>
            <a:ext cx="40003" cy="113342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微软雅黑" charset="0"/>
              <a:ea typeface="微软雅黑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96477" y="2174897"/>
            <a:ext cx="2070246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微软雅黑" charset="0"/>
                <a:ea typeface="微软雅黑" charset="0"/>
              </a:rPr>
              <a:t>评分口径统一可调</a:t>
            </a:r>
            <a:endParaRPr sz="1200" b="1">
              <a:solidFill>
                <a:srgbClr val="1D1D1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89802" y="2451108"/>
            <a:ext cx="2176921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spc="0">
                <a:solidFill>
                  <a:srgbClr val="1D1D1F"/>
                </a:solidFill>
                <a:latin typeface="微软雅黑" charset="0"/>
                <a:ea typeface="微软雅黑" charset="0"/>
                <a:cs typeface="微软雅黑" charset="0"/>
              </a:rPr>
              <a:t>100</a:t>
            </a:r>
            <a:r>
              <a:rPr sz="2800" b="0" spc="0">
                <a:solidFill>
                  <a:srgbClr val="6E6E73"/>
                </a:solidFill>
                <a:latin typeface="微软雅黑" charset="0"/>
                <a:ea typeface="微软雅黑" charset="0"/>
                <a:cs typeface="微软雅黑" charset="0"/>
              </a:rPr>
              <a:t>分制</a:t>
            </a:r>
            <a:endParaRPr sz="2800" b="0" spc="0">
              <a:solidFill>
                <a:srgbClr val="6E6E73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89802" y="2940030"/>
            <a:ext cx="2176921" cy="8959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200" b="0">
                <a:solidFill>
                  <a:srgbClr val="6E6E73"/>
                </a:solidFill>
                <a:latin typeface="微软雅黑" charset="0"/>
                <a:ea typeface="微软雅黑" charset="0"/>
                <a:cs typeface="微软雅黑" charset="0"/>
              </a:rPr>
              <a:t>内容 40 + 留存 30 + 互动 30</a:t>
            </a:r>
            <a:endParaRPr sz="1200" b="0">
              <a:solidFill>
                <a:srgbClr val="6E6E73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62000"/>
              </a:lnSpc>
            </a:pPr>
            <a:r>
              <a:rPr sz="1200" b="0">
                <a:solidFill>
                  <a:srgbClr val="6E6E73"/>
                </a:solidFill>
                <a:latin typeface="微软雅黑" charset="0"/>
                <a:ea typeface="微软雅黑" charset="0"/>
                <a:cs typeface="微软雅黑" charset="0"/>
              </a:rPr>
              <a:t>情理色诚四维 + 5 项硬指标</a:t>
            </a:r>
            <a:endParaRPr sz="1200" b="0">
              <a:solidFill>
                <a:srgbClr val="6E6E73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62000"/>
              </a:lnSpc>
            </a:pPr>
            <a:r>
              <a:rPr sz="1200" b="0">
                <a:solidFill>
                  <a:srgbClr val="6E6E73"/>
                </a:solidFill>
                <a:latin typeface="微软雅黑" charset="0"/>
                <a:ea typeface="微软雅黑" charset="0"/>
                <a:cs typeface="微软雅黑" charset="0"/>
              </a:rPr>
              <a:t>档位与分数线后台可改</a:t>
            </a:r>
            <a:endParaRPr sz="1200" b="0">
              <a:solidFill>
                <a:srgbClr val="6E6E73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79167" y="4563764"/>
            <a:ext cx="40003" cy="113342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微软雅黑" charset="0"/>
              <a:ea typeface="微软雅黑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85842" y="4506617"/>
            <a:ext cx="2070246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微软雅黑" charset="0"/>
                <a:ea typeface="微软雅黑" charset="0"/>
              </a:rPr>
              <a:t>头部内容跑出量级</a:t>
            </a:r>
            <a:endParaRPr sz="1200" b="1">
              <a:solidFill>
                <a:srgbClr val="1D1D1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79167" y="4782828"/>
            <a:ext cx="2176921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spc="0">
                <a:solidFill>
                  <a:srgbClr val="1D1D1F"/>
                </a:solidFill>
                <a:latin typeface="微软雅黑" charset="0"/>
                <a:ea typeface="微软雅黑" charset="0"/>
                <a:cs typeface="微软雅黑" charset="0"/>
              </a:rPr>
              <a:t>24.6</a:t>
            </a:r>
            <a:r>
              <a:rPr sz="2800" b="0" spc="0">
                <a:solidFill>
                  <a:srgbClr val="6E6E73"/>
                </a:solidFill>
                <a:latin typeface="微软雅黑" charset="0"/>
                <a:ea typeface="微软雅黑" charset="0"/>
                <a:cs typeface="微软雅黑" charset="0"/>
              </a:rPr>
              <a:t>万</a:t>
            </a:r>
            <a:endParaRPr sz="2800" b="0" spc="0">
              <a:solidFill>
                <a:srgbClr val="6E6E73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79167" y="5396210"/>
            <a:ext cx="2176921" cy="8959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200" b="0">
                <a:solidFill>
                  <a:srgbClr val="6E6E73"/>
                </a:solidFill>
                <a:latin typeface="微软雅黑" charset="0"/>
                <a:ea typeface="微软雅黑" charset="0"/>
                <a:cs typeface="微软雅黑" charset="0"/>
              </a:rPr>
              <a:t>全网播放量</a:t>
            </a:r>
            <a:endParaRPr sz="1200" b="0">
              <a:solidFill>
                <a:srgbClr val="6E6E73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62000"/>
              </a:lnSpc>
            </a:pPr>
            <a:r>
              <a:rPr sz="1200" b="1">
                <a:solidFill>
                  <a:srgbClr val="1D1D1F"/>
                </a:solidFill>
                <a:latin typeface="微软雅黑" charset="0"/>
                <a:ea typeface="微软雅黑" charset="0"/>
                <a:cs typeface="微软雅黑" charset="0"/>
              </a:rPr>
              <a:t>3,454 次</a:t>
            </a:r>
            <a:r>
              <a:rPr sz="1200" b="0">
                <a:solidFill>
                  <a:srgbClr val="6E6E73"/>
                </a:solidFill>
                <a:latin typeface="微软雅黑" charset="0"/>
                <a:ea typeface="微软雅黑" charset="0"/>
                <a:cs typeface="微软雅黑" charset="0"/>
              </a:rPr>
              <a:t>分享，2,906 点赞</a:t>
            </a:r>
            <a:endParaRPr sz="1200" b="0">
              <a:solidFill>
                <a:srgbClr val="6E6E73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62000"/>
              </a:lnSpc>
            </a:pPr>
            <a:r>
              <a:rPr sz="1200" b="0">
                <a:solidFill>
                  <a:srgbClr val="6E6E73"/>
                </a:solidFill>
                <a:latin typeface="微软雅黑" charset="0"/>
                <a:ea typeface="微软雅黑" charset="0"/>
                <a:cs typeface="微软雅黑" charset="0"/>
              </a:rPr>
              <a:t>头部两条完播率 </a:t>
            </a:r>
            <a:r>
              <a:rPr sz="1200" b="1">
                <a:solidFill>
                  <a:srgbClr val="1D1D1F"/>
                </a:solidFill>
                <a:latin typeface="微软雅黑" charset="0"/>
                <a:ea typeface="微软雅黑" charset="0"/>
                <a:cs typeface="微软雅黑" charset="0"/>
              </a:rPr>
              <a:t>96%</a:t>
            </a:r>
            <a:endParaRPr sz="1200" b="1">
              <a:solidFill>
                <a:srgbClr val="1D1D1F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856103" y="4563764"/>
            <a:ext cx="40003" cy="113342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微软雅黑" charset="0"/>
              <a:ea typeface="微软雅黑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962777" y="4540907"/>
            <a:ext cx="2070246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微软雅黑" charset="0"/>
                <a:ea typeface="微软雅黑" charset="0"/>
              </a:rPr>
              <a:t>内容反哺渠道打假</a:t>
            </a:r>
            <a:endParaRPr sz="1200" b="1">
              <a:solidFill>
                <a:srgbClr val="1D1D1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856103" y="4817118"/>
            <a:ext cx="2176921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spc="0">
                <a:solidFill>
                  <a:srgbClr val="1D1D1F"/>
                </a:solidFill>
                <a:latin typeface="微软雅黑" charset="0"/>
                <a:ea typeface="微软雅黑" charset="0"/>
                <a:cs typeface="微软雅黑" charset="0"/>
              </a:rPr>
              <a:t>48</a:t>
            </a:r>
            <a:r>
              <a:rPr sz="2800" b="0" spc="0">
                <a:solidFill>
                  <a:srgbClr val="6E6E73"/>
                </a:solidFill>
                <a:latin typeface="微软雅黑" charset="0"/>
                <a:ea typeface="微软雅黑" charset="0"/>
                <a:cs typeface="微软雅黑" charset="0"/>
              </a:rPr>
              <a:t>条</a:t>
            </a:r>
            <a:endParaRPr sz="2800" b="0" spc="0">
              <a:solidFill>
                <a:srgbClr val="6E6E73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856103" y="5396210"/>
            <a:ext cx="2176921" cy="8959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200" b="0">
                <a:solidFill>
                  <a:srgbClr val="6E6E73"/>
                </a:solidFill>
                <a:latin typeface="微软雅黑" charset="0"/>
                <a:ea typeface="微软雅黑" charset="0"/>
                <a:cs typeface="微软雅黑" charset="0"/>
              </a:rPr>
              <a:t>有效线索经审核沉淀</a:t>
            </a:r>
            <a:endParaRPr sz="1200" b="0">
              <a:solidFill>
                <a:srgbClr val="6E6E73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62000"/>
              </a:lnSpc>
            </a:pPr>
            <a:r>
              <a:rPr sz="1200" b="0">
                <a:solidFill>
                  <a:srgbClr val="6E6E73"/>
                </a:solidFill>
                <a:latin typeface="微软雅黑" charset="0"/>
                <a:ea typeface="微软雅黑" charset="0"/>
                <a:cs typeface="微软雅黑" charset="0"/>
              </a:rPr>
              <a:t>转假宣传赛道投稿 </a:t>
            </a:r>
            <a:r>
              <a:rPr sz="1200" b="1">
                <a:solidFill>
                  <a:srgbClr val="1D1D1F"/>
                </a:solidFill>
                <a:latin typeface="微软雅黑" charset="0"/>
                <a:ea typeface="微软雅黑" charset="0"/>
                <a:cs typeface="微软雅黑" charset="0"/>
              </a:rPr>
              <a:t>71 条</a:t>
            </a:r>
            <a:endParaRPr sz="1200" b="1">
              <a:solidFill>
                <a:srgbClr val="1D1D1F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62000"/>
              </a:lnSpc>
            </a:pPr>
            <a:r>
              <a:rPr sz="1200" b="0">
                <a:solidFill>
                  <a:srgbClr val="6E6E73"/>
                </a:solidFill>
                <a:latin typeface="微软雅黑" charset="0"/>
                <a:ea typeface="微软雅黑" charset="0"/>
                <a:cs typeface="微软雅黑" charset="0"/>
              </a:rPr>
              <a:t>每条线索可核验凭证</a:t>
            </a:r>
            <a:endParaRPr sz="1200" b="0">
              <a:solidFill>
                <a:srgbClr val="6E6E73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cxnSp>
        <p:nvCxnSpPr>
          <p:cNvPr id="62" name="Connector 5"/>
          <p:cNvCxnSpPr/>
          <p:nvPr/>
        </p:nvCxnSpPr>
        <p:spPr>
          <a:xfrm>
            <a:off x="456565" y="4206621"/>
            <a:ext cx="3804285" cy="0"/>
          </a:xfrm>
          <a:prstGeom prst="line">
            <a:avLst/>
          </a:prstGeom>
          <a:ln w="12700">
            <a:solidFill>
              <a:srgbClr val="DC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21"/>
          <p:cNvCxnSpPr/>
          <p:nvPr/>
        </p:nvCxnSpPr>
        <p:spPr>
          <a:xfrm>
            <a:off x="403225" y="1942719"/>
            <a:ext cx="3804285" cy="0"/>
          </a:xfrm>
          <a:prstGeom prst="line">
            <a:avLst/>
          </a:prstGeom>
          <a:ln w="12700">
            <a:solidFill>
              <a:srgbClr val="DC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6" name="图片 75"/>
          <p:cNvPicPr>
            <a:picLocks noChangeAspect="1"/>
          </p:cNvPicPr>
          <p:nvPr/>
        </p:nvPicPr>
        <p:blipFill>
          <a:blip r:embed="rId1"/>
          <a:srcRect l="15909"/>
          <a:stretch>
            <a:fillRect/>
          </a:stretch>
        </p:blipFill>
        <p:spPr>
          <a:xfrm>
            <a:off x="4975860" y="1638935"/>
            <a:ext cx="4293235" cy="2472690"/>
          </a:xfrm>
          <a:prstGeom prst="rect">
            <a:avLst/>
          </a:prstGeom>
        </p:spPr>
      </p:pic>
      <p:pic>
        <p:nvPicPr>
          <p:cNvPr id="77" name="图片 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720" y="4206240"/>
            <a:ext cx="4373880" cy="2435225"/>
          </a:xfrm>
          <a:prstGeom prst="rect">
            <a:avLst/>
          </a:prstGeom>
        </p:spPr>
      </p:pic>
      <p:pic>
        <p:nvPicPr>
          <p:cNvPr id="78" name="图片 77"/>
          <p:cNvPicPr>
            <a:picLocks noChangeAspect="1"/>
          </p:cNvPicPr>
          <p:nvPr/>
        </p:nvPicPr>
        <p:blipFill>
          <a:blip r:embed="rId3"/>
          <a:srcRect b="59465"/>
          <a:stretch>
            <a:fillRect/>
          </a:stretch>
        </p:blipFill>
        <p:spPr>
          <a:xfrm>
            <a:off x="9405620" y="1708150"/>
            <a:ext cx="2786380" cy="26695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484</Words>
  <Application>WPS 文字</Application>
  <PresentationFormat>On-screen Show (4:3)</PresentationFormat>
  <Paragraphs>74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方正雅意黑 GB18030L2</vt:lpstr>
      <vt:lpstr>微软雅黑</vt:lpstr>
      <vt:lpstr>Calibri</vt:lpstr>
      <vt:lpstr>Helvetica Neue</vt:lpstr>
      <vt:lpstr>汉仪书宋二KW</vt:lpstr>
      <vt:lpstr>宋体</vt:lpstr>
      <vt:lpstr>Arial Unicode MS</vt:lpstr>
      <vt:lpstr>微软雅黑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那年那月</cp:lastModifiedBy>
  <cp:revision>3</cp:revision>
  <dcterms:created xsi:type="dcterms:W3CDTF">2026-10-08T08:53:21Z</dcterms:created>
  <dcterms:modified xsi:type="dcterms:W3CDTF">2026-10-08T08:53:21Z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2052-12.1.26055.26055</vt:lpwstr>
  </property>
  <property fmtid="{D5CDD505-2E9C-101B-9397-08002B2CF9AE}" pid="3" name="ICV">
    <vt:lpwstr>CE66EE9DC5933411DA36C76A0064C5EA_42</vt:lpwstr>
  </property>
</Properties>
</file>